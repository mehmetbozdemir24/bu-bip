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Ağırlık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7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72E-4EC4-917F-1E003192723C}"/>
              </c:ext>
            </c:extLst>
          </c:dPt>
          <c:dPt>
            <c:idx val="1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2E-4EC4-917F-1E003192723C}"/>
              </c:ext>
            </c:extLst>
          </c:dPt>
          <c:dPt>
            <c:idx val="2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2E-4EC4-917F-1E003192723C}"/>
              </c:ext>
            </c:extLst>
          </c:dPt>
          <c:dPt>
            <c:idx val="3"/>
            <c:bubble3D val="0"/>
            <c:spPr>
              <a:solidFill>
                <a:srgbClr val="FF6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2E-4EC4-917F-1E003192723C}"/>
              </c:ext>
            </c:extLst>
          </c:dPt>
          <c:dPt>
            <c:idx val="4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2E-4EC4-917F-1E003192723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72E-4EC4-917F-1E003192723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72E-4EC4-917F-1E003192723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72E-4EC4-917F-1E003192723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72E-4EC4-917F-1E003192723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72E-4EC4-917F-1E003192723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İP-1</c:v>
                </c:pt>
                <c:pt idx="1">
                  <c:v>İP-2</c:v>
                </c:pt>
                <c:pt idx="2">
                  <c:v>İP-3</c:v>
                </c:pt>
                <c:pt idx="3">
                  <c:v>İP-4</c:v>
                </c:pt>
                <c:pt idx="4">
                  <c:v>İP-5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25</c:v>
                </c:pt>
                <c:pt idx="2">
                  <c:v>25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72E-4EC4-917F-1E00319272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937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0" y="1097280"/>
            <a:ext cx="2743200" cy="2743200"/>
          </a:xfrm>
          <a:prstGeom prst="rect">
            <a:avLst/>
          </a:prstGeom>
          <a:solidFill>
            <a:srgbClr val="0097A7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459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914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BU-BİP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Bursa Uludağ Bilgi ve İletişim Platformu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ve İş Dağılım Raporu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Süresi: 12 Ay  |  Bütçe: 433.109,76 TL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Yürütücüsü: Doç. Dr. Metin Bilgin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 Ekibi ve Roller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880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Soyad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Unvan / 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Sorumluluk Alanları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Doç. Dr. Metin Bilgin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 Yürütücüsü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koordinasyon, akademik danışmanlık, süreç yönetimi, İP-5 gözetimi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Süleyman Var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Araştırmacı (İP-2 Sorumlusu)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 modeli fine-tuning, LoRA/QLoRA eğitim, model optimizasyonu, ToT/DPO veri seti hazırlığı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Mehmet Bozdemir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Araştırmacı (İP-3 Sorumlusu)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sistemi geliştirme, embedding, vektör DB kurulumu, indeksleme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Tufan Yiğit Çiftçioğlu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Araştırmacı (İP-1 Sorumlusu)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scraping, veri toplama, frontend arayüz geliştirme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 Demir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Araştırmacı (İP-4 Sorumlusu)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temizleme, backend API geliştirme, sistem entegrasyonu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FF3E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404164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Not: </a:t>
            </a:r>
            <a:r>
              <a:rPr lang="en-US" sz="1100" dirty="0" err="1"/>
              <a:t>Doç</a:t>
            </a:r>
            <a:r>
              <a:rPr lang="en-US" sz="1100" dirty="0"/>
              <a:t>. Dr. Metin Bilgin </a:t>
            </a:r>
            <a:r>
              <a:rPr lang="en-US" sz="1100" dirty="0" err="1"/>
              <a:t>proje</a:t>
            </a:r>
            <a:r>
              <a:rPr lang="en-US" sz="1100" dirty="0"/>
              <a:t> </a:t>
            </a:r>
            <a:r>
              <a:rPr lang="en-US" sz="1100" dirty="0" err="1"/>
              <a:t>danışmanı</a:t>
            </a:r>
            <a:r>
              <a:rPr lang="en-US" sz="1100" dirty="0"/>
              <a:t>/</a:t>
            </a:r>
            <a:r>
              <a:rPr lang="en-US" sz="1100" dirty="0" err="1"/>
              <a:t>yöneticisi</a:t>
            </a:r>
            <a:r>
              <a:rPr lang="en-US" sz="1100" dirty="0"/>
              <a:t> </a:t>
            </a:r>
            <a:r>
              <a:rPr lang="en-US" sz="1100" dirty="0" err="1"/>
              <a:t>sıfatıyla</a:t>
            </a:r>
            <a:r>
              <a:rPr lang="en-US" sz="1100" dirty="0"/>
              <a:t> </a:t>
            </a:r>
            <a:r>
              <a:rPr lang="en-US" sz="1100" dirty="0" err="1"/>
              <a:t>akademik</a:t>
            </a:r>
            <a:r>
              <a:rPr lang="en-US" sz="1100" dirty="0"/>
              <a:t> </a:t>
            </a:r>
            <a:r>
              <a:rPr lang="en-US" sz="1100" dirty="0" err="1"/>
              <a:t>rehberlik</a:t>
            </a:r>
            <a:r>
              <a:rPr lang="en-US" sz="1100" dirty="0"/>
              <a:t>, </a:t>
            </a:r>
            <a:r>
              <a:rPr lang="en-US" sz="1100" dirty="0" err="1"/>
              <a:t>metodolojik</a:t>
            </a:r>
            <a:r>
              <a:rPr lang="en-US" sz="1100" dirty="0"/>
              <a:t> </a:t>
            </a:r>
            <a:r>
              <a:rPr lang="en-US" sz="1100" dirty="0" err="1"/>
              <a:t>danışmanlık</a:t>
            </a:r>
            <a:r>
              <a:rPr lang="en-US" sz="1100" dirty="0"/>
              <a:t> </a:t>
            </a:r>
            <a:r>
              <a:rPr lang="en-US" sz="1100" dirty="0" err="1"/>
              <a:t>ve</a:t>
            </a:r>
            <a:r>
              <a:rPr lang="en-US" sz="1100" dirty="0"/>
              <a:t> </a:t>
            </a:r>
            <a:r>
              <a:rPr lang="en-US" sz="1100" dirty="0" err="1"/>
              <a:t>süreç</a:t>
            </a:r>
            <a:r>
              <a:rPr lang="en-US" sz="1100" dirty="0"/>
              <a:t> </a:t>
            </a:r>
            <a:r>
              <a:rPr lang="en-US" sz="1100" dirty="0" err="1"/>
              <a:t>yönetimi</a:t>
            </a:r>
            <a:r>
              <a:rPr lang="en-US" sz="1100" dirty="0"/>
              <a:t> </a:t>
            </a:r>
            <a:r>
              <a:rPr lang="en-US" sz="1100" dirty="0" err="1"/>
              <a:t>sorumluluklarını</a:t>
            </a:r>
            <a:r>
              <a:rPr lang="en-US" sz="1100" dirty="0"/>
              <a:t> </a:t>
            </a:r>
            <a:r>
              <a:rPr lang="en-US" sz="1100" dirty="0" err="1"/>
              <a:t>üstlenecektir</a:t>
            </a:r>
            <a:r>
              <a:rPr lang="en-US" sz="1100" dirty="0"/>
              <a:t>. </a:t>
            </a:r>
            <a:r>
              <a:rPr lang="en-US" sz="1100" dirty="0" err="1"/>
              <a:t>Operasyonel</a:t>
            </a:r>
            <a:r>
              <a:rPr lang="en-US" sz="1100" dirty="0"/>
              <a:t> </a:t>
            </a:r>
            <a:r>
              <a:rPr lang="en-US" sz="1100" dirty="0" err="1"/>
              <a:t>işlemler</a:t>
            </a:r>
            <a:r>
              <a:rPr lang="en-US" sz="1100" dirty="0"/>
              <a:t> </a:t>
            </a:r>
            <a:r>
              <a:rPr lang="en-US" sz="1100" dirty="0" err="1"/>
              <a:t>ve</a:t>
            </a:r>
            <a:r>
              <a:rPr lang="en-US" sz="1100" dirty="0"/>
              <a:t> </a:t>
            </a:r>
            <a:r>
              <a:rPr lang="en-US" sz="1100" dirty="0" err="1"/>
              <a:t>teknik</a:t>
            </a:r>
            <a:r>
              <a:rPr lang="en-US" sz="1100" dirty="0"/>
              <a:t> </a:t>
            </a:r>
            <a:r>
              <a:rPr lang="en-US" sz="1100" dirty="0" err="1"/>
              <a:t>uygulamalar</a:t>
            </a:r>
            <a:r>
              <a:rPr lang="en-US" sz="1100" dirty="0"/>
              <a:t> </a:t>
            </a:r>
            <a:r>
              <a:rPr lang="en-US" sz="1100" dirty="0" err="1"/>
              <a:t>araştırmacılar</a:t>
            </a:r>
            <a:r>
              <a:rPr lang="en-US" sz="1100" dirty="0"/>
              <a:t> </a:t>
            </a:r>
            <a:r>
              <a:rPr lang="en-US" sz="1100" dirty="0" err="1"/>
              <a:t>tarafından</a:t>
            </a:r>
            <a:r>
              <a:rPr lang="en-US" sz="1100" dirty="0"/>
              <a:t> </a:t>
            </a:r>
            <a:r>
              <a:rPr lang="en-US" sz="1100" dirty="0" err="1"/>
              <a:t>gerçekleştirilecektir</a:t>
            </a:r>
            <a:r>
              <a:rPr lang="en-US" sz="11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İP-1: Veri Toplama ve Ön İşleme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772400" y="137160"/>
            <a:ext cx="1097280" cy="502920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1–3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Sorumlular: Tufan Y. Çiftçioğlu (Paket Sorumlusu) | Engin Demir (Araştırmacı)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148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Sorumlu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Araçlar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 ve Uygulama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Web scraping altyapısı kurulması ve hedef sayfaların belirlenmesi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Tufan Y. Çiftçioğlu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BeautifulSoup, Scrapy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BUÜ web sayfalarının URL haritası çıkarılır. Scrapy spider yazılarak HTML içerikleri otomatik çekilir. Hedef URL listesi JSON konfigürasyon dosyasına taşınır.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Scraping kod deposu, URL listesi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HTML içeriklerin ayıklanması ve veri temizleme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 Demir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Pandas, Regex, NLTK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Gereksiz HTML etiketleri, semboller ve tekrarlı şablon içerikler temizlenir. Normalizasyon uygulanır. Veri JSON/CSV formatında yapılandırılır.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 veri seti (JSON/CSV)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65760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85800" y="3749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Ölçütü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100 sayfa, %95 doğruluk, %90 tekrar temizliği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46320" y="365760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846320" y="3657600"/>
            <a:ext cx="73152" cy="109728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74920" y="3749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B Planı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sitesi yapısı değişikliği → Adaptif scraping, Vision-LLM tabanlı ayrıştırıcılar, CMS API entegrasyonu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İP-2: Dil Modelinin İnce Ayarı (Fine-tuning)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772400" y="137160"/>
            <a:ext cx="1097280" cy="502920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2–6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Sorumlular: Süleyman Var (Paket Sorumlusu) | Doç. Dr. M. Bilgin (Akademik Danışman – süreç yönetimi)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2402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Sorumlu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Araçlar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 ve Uygulama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ToT ve DPO veri setlerinin hazırlanması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Süleyman 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HF Datasets, Sentetik veri üretim araçları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Üniversite yönetmelikleri üzerinden çok adımlı mantık gerektiren ToT örnekleri hazırlanır. DPO için tercih edilen/reddedilen yanıt çiftleri oluşturulur. HF formatında düzenlenir.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 ve DPO eğitim veri setleri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Model seçimi ve fine-tuning altyapısı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Süleyman 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2.5-7B, LoRA/QLoRA, HF Transformers, PEFT, Unsloth, Colab Pro+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2.5-7B-Instruct temel model seçilir. LoRA/QLoRA ile parametre-etkin ince ayar uygulanır. 3 fazlı eğitim: SFT → ToT → DPO. On-premise sunucuda eğitim.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 edilmiş model, eğitim logları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7033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57200" y="3703320"/>
            <a:ext cx="73152" cy="10515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85800" y="376732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Ölçütü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%30 iyileşme, F1 &gt; 0.85, Türkçe testlerde başarı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46320" y="3703320"/>
            <a:ext cx="3840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846320" y="3703320"/>
            <a:ext cx="73152" cy="105156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74920" y="3767328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B Planı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kaynak yetersizliği → LoRA/QLoRA, model distilasyonu, bulut GPU kiralama (Colab Pro+)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İP-3: RAG Sisteminin Geliştirilmesi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772400" y="137160"/>
            <a:ext cx="1097280" cy="502920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4–7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Sorumlular: Mehmet Bozdemir (Paket Sorumlusu) | Doç. Dr. M. Bilgin (Akademik Danışman – süreç yönetimi)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377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Sorumlu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Araçlar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 ve Uygulama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Chunking stratejilerinin belirlenmesi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Mehmet Bozdemir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(RecursiveChar TextSplitter)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Metinler 512 token, %10 overlap ile hiyerarşik bölütleme. Anlam bütünlüğü korunur.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 algoritması, chunk veri seti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 Embedding modeli seçimi ve vektörleştirme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Mehmet Bozdemir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BAAI/bge-m3, ytu-ce-cosmos/ turkish-e5-large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 embedding modeli karşılaştırılır. Metinler 1024 boyutlu vektörlere dönüştürülür.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vektörleri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Vektör veritabanı kurulumu ve indeksleme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Mehmet Bozdemir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Qdrant/FAISS/ Chroma, HNSW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Vektör DB kurulur, HNSW indeksleme yapılandırılır. Hibrit arama (vektör + BM25) entegre edilir.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İndekslenmiş vektör veritabanı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7947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57200" y="3794760"/>
            <a:ext cx="73152" cy="9601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85800" y="38587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Ölçütü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 relevance (Top-5), retrieval latency &lt; 200ms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46320" y="37947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846320" y="3794760"/>
            <a:ext cx="73152" cy="9601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74920" y="38587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B Planı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 DB performans sorunları → Pinecone/Weaviate alternatifleri, hibrit arama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İP-4: Sistem Entegrasyonu ve Arayüz Geliştirme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772400" y="137160"/>
            <a:ext cx="1097280" cy="502920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6–10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Sorumlular: Engin Demir (Paket Sorumlusu) | Tufan Y. Çiftçioğlu (Araştırmacı)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377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Sorumlu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Araçlar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 ve Uygulama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API backend servisleri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 Demir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FastAPI/Flask, WebSocket/SSE, Docker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RESTful API geliştirilir. Sorgular RAG pipeline'dan geçirilir. SSE ile anlık streaming sağlanır. Docker Compose ile konteynerize edilir.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dokümantasyonu, endpoint'ler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Web arayüzü tasarımı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Tufan Y. Çiftçioğlu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React.js/Vue.js, CSS Framework, PWA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Mobile-First yaklaşım, responsive tasarım. Merkezi sohbet penceresi, kaynak gösterimi. WCAG 2.1 standartlarına uyum.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web arayüzü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Sistem entegrasyonu ve optimizasyon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 Demir + Tufan Y. Çiftçioğlu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Compose, CI/CD, Nginx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bileşenler (LLM, Vektör DB, API, Frontend) Docker Compose ile birleştirilir. Performans optimizasyonu ve deployment scriptleri hazırlanır.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Entegre sistem, deployment scripti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7947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57200" y="3794760"/>
            <a:ext cx="73152" cy="9601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85800" y="38587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Ölçütü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yanıt &lt; 2sn, 50 eş zamanlı kullanıcı, UX &gt; 4.0/5.0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46320" y="37947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846320" y="3794760"/>
            <a:ext cx="73152" cy="9601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74920" y="38587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B Planı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Tarayıcı/cihaz uyumsuzluğu → PWA yaklaşımı, çoklu tarayıcı desteği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İP-5: Test, Değerlendirme ve İyileştirme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772400" y="137160"/>
            <a:ext cx="1097280" cy="502920"/>
          </a:xfrm>
          <a:prstGeom prst="rect">
            <a:avLst/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9–12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Sorumlular: Tüm Ekip (Doç. Dr. Metin Bilgin gözetiminde)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377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Sorumlu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Araçlar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 ve Uygulama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 Benchmark hazırlığı ve model testleri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Ekip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RAGAS, EM/F1, Precision@k, MRR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test sorusu hazırlanır (basit, çok adımlı, şaşırtıcı). Perplexity, F1, EM, Faithfulness ve Answer Relevance skorları ölçülür.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sonuç raporu, metrikler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 Kullanıcı testleri ve geri bildirim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Ekip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 Anketi, görüşme formları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Öğrenci ve personel ile gerçek kullanıcı testleri. SUS anketi uygulanır, 80/100 üzeri hedeflenir.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Kullanıcı geri bildirim raporu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 Sistem iyileştirmeleri ve dokümantasyon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Ekip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GitHub, Markdown, YAML/JSON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 bildirimlere göre iyileştirmeler. Teknik dokümantasyon, kullanım kılavuzu ve diğer kurumlar için uyarlama kılavuzu hazırlanır.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Dokümantasyon, uyarlama kılavuzu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37947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57200" y="3794760"/>
            <a:ext cx="73152" cy="9601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85800" y="38587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Ölçütü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&gt; %75, F1 &gt; %85, halüsinasyon &lt; %5, SUS &gt; 80/100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46320" y="3794760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846320" y="3794760"/>
            <a:ext cx="73152" cy="960120"/>
          </a:xfrm>
          <a:prstGeom prst="rect">
            <a:avLst/>
          </a:prstGeom>
          <a:solidFill>
            <a:srgbClr val="FF6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74920" y="3858768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B Planı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Halüsinasyon oranı yüksek → Güven skoru eşik değerleri, kaynak kısıtlama, insan denetimli doğrulama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502920" cy="502920"/>
          </a:xfrm>
          <a:prstGeom prst="ellips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Başarı Ölçütleri Özeti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315200" cy="29260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 Paketi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Başarı Ölçütü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Ağırlık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Toplama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100 sayfa, %95 doğruluk, %90 tekrar temizliği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1–3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%30 perplexity iyileşme, F1 &gt; 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2–6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Sistemi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%80 relevance, &lt;200ms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4–7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Entegrasyon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&lt;2sn yanıt, 50 kullanıcı, UX &gt; 4.0/5.0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6–10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&amp; Değerlendirme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&gt; %75, F1 &gt; %85, halüsinasyon &lt; %5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 9–12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18263812"/>
              </p:ext>
            </p:extLst>
          </p:nvPr>
        </p:nvGraphicFramePr>
        <p:xfrm>
          <a:off x="5669280" y="3757618"/>
          <a:ext cx="32004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BU-BİP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Bursa Uludağ Bilgi ve İletişim Platformu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İş Paketi  •  12 Ay  •  5 Araştırmacı  •  1 Hedef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3474720"/>
            <a:ext cx="3657600" cy="18288"/>
          </a:xfrm>
          <a:prstGeom prst="rect">
            <a:avLst/>
          </a:prstGeom>
          <a:solidFill>
            <a:srgbClr val="0097A7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Doç. Dr. Metin Bilgin (Proje Yürütücüsü)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Bursa Uludağ Üniversitesi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1196</Words>
  <Application>Microsoft Office PowerPoint</Application>
  <PresentationFormat>On-screen Show (16:9)</PresentationFormat>
  <Paragraphs>200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BU-BİP Görev ve İş Dağılım Raporu</dc:title>
  <dc:subject>PptxGenJS Presentation</dc:subject>
  <dc:creator>BU-BİP Proje Ekibi</dc:creator>
  <cp:lastModifiedBy>mehmet bozdemir</cp:lastModifiedBy>
  <cp:revision>4</cp:revision>
  <dcterms:created xsi:type="dcterms:W3CDTF">2026-02-14T11:59:06Z</dcterms:created>
  <dcterms:modified xsi:type="dcterms:W3CDTF">2026-02-14T12:04:46Z</dcterms:modified>
</cp:coreProperties>
</file>